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  <p:embeddedFont>
      <p:font typeface="Comfortaa Medium"/>
      <p:regular r:id="rId21"/>
      <p:bold r:id="rId22"/>
    </p:embeddedFont>
    <p:embeddedFont>
      <p:font typeface="Roboto Serif Black"/>
      <p:bold r:id="rId23"/>
      <p:boldItalic r:id="rId24"/>
    </p:embeddedFont>
    <p:embeddedFont>
      <p:font typeface="Comfortaa"/>
      <p:regular r:id="rId25"/>
      <p:bold r:id="rId26"/>
    </p:embeddedFont>
    <p:embeddedFont>
      <p:font typeface="Caveat SemiBo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22" Type="http://schemas.openxmlformats.org/officeDocument/2006/relationships/font" Target="fonts/ComfortaaMedium-bold.fntdata"/><Relationship Id="rId21" Type="http://schemas.openxmlformats.org/officeDocument/2006/relationships/font" Target="fonts/ComfortaaMedium-regular.fntdata"/><Relationship Id="rId24" Type="http://schemas.openxmlformats.org/officeDocument/2006/relationships/font" Target="fonts/RobotoSerifBlack-boldItalic.fntdata"/><Relationship Id="rId23" Type="http://schemas.openxmlformats.org/officeDocument/2006/relationships/font" Target="fonts/RobotoSerif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mfortaa-bold.fntdata"/><Relationship Id="rId25" Type="http://schemas.openxmlformats.org/officeDocument/2006/relationships/font" Target="fonts/Comfortaa-regular.fntdata"/><Relationship Id="rId28" Type="http://schemas.openxmlformats.org/officeDocument/2006/relationships/font" Target="fonts/CaveatSemiBold-bold.fntdata"/><Relationship Id="rId27" Type="http://schemas.openxmlformats.org/officeDocument/2006/relationships/font" Target="fonts/Caveat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Mono-italic.fntdata"/><Relationship Id="rId18" Type="http://schemas.openxmlformats.org/officeDocument/2006/relationships/font" Target="fonts/Roboto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solidFill>
                  <a:schemeClr val="dk1"/>
                </a:solidFill>
              </a:rPr>
              <a:t>1. Slide di Apertura (Titolo e Contesto)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Titolo</a:t>
            </a:r>
            <a:r>
              <a:rPr lang="it">
                <a:solidFill>
                  <a:schemeClr val="dk1"/>
                </a:solidFill>
              </a:rPr>
              <a:t>: </a:t>
            </a:r>
            <a:r>
              <a:rPr i="1" lang="it">
                <a:solidFill>
                  <a:schemeClr val="dk1"/>
                </a:solidFill>
              </a:rPr>
              <a:t>Sogno Mondiale: The Mancini effect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Obiettivo</a:t>
            </a:r>
            <a:r>
              <a:rPr lang="it">
                <a:solidFill>
                  <a:schemeClr val="dk1"/>
                </a:solidFill>
              </a:rPr>
              <a:t>: Valutare l'impatto storico del tecnico attraverso metriche avanzate e proiettare il futuro della Nazionale al 2030.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42c31d4d4d26996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42c31d4d4d26996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solidFill>
                  <a:schemeClr val="dk1"/>
                </a:solidFill>
              </a:rPr>
              <a:t>2. Metodologia e Fonti dei Dati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Il Dataset</a:t>
            </a:r>
            <a:r>
              <a:rPr lang="it">
                <a:solidFill>
                  <a:schemeClr val="dk1"/>
                </a:solidFill>
              </a:rPr>
              <a:t>: Analisi multi-campionato e whitelist storica di </a:t>
            </a:r>
            <a:r>
              <a:rPr b="1" lang="it">
                <a:solidFill>
                  <a:schemeClr val="dk1"/>
                </a:solidFill>
              </a:rPr>
              <a:t>68 giocatori</a:t>
            </a:r>
            <a:r>
              <a:rPr lang="it">
                <a:solidFill>
                  <a:schemeClr val="dk1"/>
                </a:solidFill>
              </a:rPr>
              <a:t> chiave (inclusi top player dei club e leggende come Zlatan Ibrahimović).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Metriche Chiave</a:t>
            </a:r>
            <a:r>
              <a:rPr lang="it">
                <a:solidFill>
                  <a:schemeClr val="dk1"/>
                </a:solidFill>
              </a:rPr>
              <a:t>: Utilizzo del rating normalizzato (5.0–10.0) integrato con </a:t>
            </a:r>
            <a:r>
              <a:rPr b="1" lang="it">
                <a:solidFill>
                  <a:schemeClr val="dk1"/>
                </a:solidFill>
              </a:rPr>
              <a:t>Expected Goals (xG)</a:t>
            </a:r>
            <a:r>
              <a:rPr lang="it">
                <a:solidFill>
                  <a:schemeClr val="dk1"/>
                </a:solidFill>
              </a:rPr>
              <a:t> ed </a:t>
            </a:r>
            <a:r>
              <a:rPr b="1" lang="it">
                <a:solidFill>
                  <a:schemeClr val="dk1"/>
                </a:solidFill>
              </a:rPr>
              <a:t>Expected Assists (xA)</a:t>
            </a:r>
            <a:r>
              <a:rPr lang="it">
                <a:solidFill>
                  <a:schemeClr val="dk1"/>
                </a:solidFill>
              </a:rPr>
              <a:t> per depurare i dati dalla varianza episodica.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42c31d4d4d26996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42c31d4d4d26996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solidFill>
                  <a:schemeClr val="dk1"/>
                </a:solidFill>
              </a:rPr>
              <a:t>3. Il Modello di Rating Prestazionale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I Tre Pilastri</a:t>
            </a:r>
            <a:r>
              <a:rPr lang="it">
                <a:solidFill>
                  <a:schemeClr val="dk1"/>
                </a:solidFill>
              </a:rPr>
              <a:t>: Voto base, bonus continuità basato sui minuti giocati, e bonus impatto ponderato per ruolo (attaccanti, centrocampisti, difensori).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42c31d4d4d26996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42c31d4d4d26996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solidFill>
                  <a:schemeClr val="dk1"/>
                </a:solidFill>
              </a:rPr>
              <a:t>4. L'Analisi della Crescita Interna (L'Impatto Reale)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Approccio Oggettivo</a:t>
            </a:r>
            <a:r>
              <a:rPr lang="it">
                <a:solidFill>
                  <a:schemeClr val="dk1"/>
                </a:solidFill>
              </a:rPr>
              <a:t>: Sfruttare la varianza naturale dei dati storici multi-stagione per mostrare come la gestione tecnica influisca sui reparti senza forzature artificiali.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it">
                <a:solidFill>
                  <a:schemeClr val="dk1"/>
                </a:solidFill>
              </a:rPr>
              <a:t>Spunto visivo</a:t>
            </a:r>
            <a:r>
              <a:rPr lang="it">
                <a:solidFill>
                  <a:schemeClr val="dk1"/>
                </a:solidFill>
              </a:rPr>
              <a:t>: Grafico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valorizzazione_ruoli_mancini.png</a:t>
            </a:r>
            <a:r>
              <a:rPr lang="it">
                <a:solidFill>
                  <a:schemeClr val="dk1"/>
                </a:solidFill>
              </a:rPr>
              <a:t> e scatter plot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coaching_growth_scatter.png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42c31d4d4d26996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42c31d4d4d26996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4. L'Analisi della Crescita Interna (L'Impatto Reale)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Approccio Oggettivo</a:t>
            </a:r>
            <a:r>
              <a:rPr lang="it">
                <a:solidFill>
                  <a:schemeClr val="dk1"/>
                </a:solidFill>
              </a:rPr>
              <a:t>: Sfruttare la varianza naturale dei dati storici multi-stagione per mostrare come la gestione tecnica influisca sui reparti senza forzature artificiali.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it">
                <a:solidFill>
                  <a:schemeClr val="dk1"/>
                </a:solidFill>
              </a:rPr>
              <a:t>Spunto visivo</a:t>
            </a:r>
            <a:r>
              <a:rPr lang="it">
                <a:solidFill>
                  <a:schemeClr val="dk1"/>
                </a:solidFill>
              </a:rPr>
              <a:t>: Grafico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valorizzazione_ruoli_mancini.png</a:t>
            </a:r>
            <a:r>
              <a:rPr lang="it">
                <a:solidFill>
                  <a:schemeClr val="dk1"/>
                </a:solidFill>
              </a:rPr>
              <a:t> e scatter plot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coaching_growth_scatter.png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2c31d4d4d26996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42c31d4d4d26996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4. L'Analisi della Crescita Interna (L'Impatto Reale)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Approccio Oggettivo</a:t>
            </a:r>
            <a:r>
              <a:rPr lang="it">
                <a:solidFill>
                  <a:schemeClr val="dk1"/>
                </a:solidFill>
              </a:rPr>
              <a:t>: Sfruttare la varianza naturale dei dati storici multi-stagione per mostrare come la gestione tecnica influisca sui reparti senza forzature artificiali.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it">
                <a:solidFill>
                  <a:schemeClr val="dk1"/>
                </a:solidFill>
              </a:rPr>
              <a:t>Spunto visivo</a:t>
            </a:r>
            <a:r>
              <a:rPr lang="it">
                <a:solidFill>
                  <a:schemeClr val="dk1"/>
                </a:solidFill>
              </a:rPr>
              <a:t>: Grafico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valorizzazione_ruoli_mancini.png</a:t>
            </a:r>
            <a:r>
              <a:rPr lang="it">
                <a:solidFill>
                  <a:schemeClr val="dk1"/>
                </a:solidFill>
              </a:rPr>
              <a:t> e scatter plot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coaching_growth_scatter.png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42c31d4d4d26996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42c31d4d4d26996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4. L'Analisi della Crescita Interna (L'Impatto Reale)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Approccio Oggettivo</a:t>
            </a:r>
            <a:r>
              <a:rPr lang="it">
                <a:solidFill>
                  <a:schemeClr val="dk1"/>
                </a:solidFill>
              </a:rPr>
              <a:t>: Sfruttare la varianza naturale dei dati storici multi-stagione per mostrare come la gestione tecnica influisca sui reparti senza forzature artificiali.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it">
                <a:solidFill>
                  <a:schemeClr val="dk1"/>
                </a:solidFill>
              </a:rPr>
              <a:t>Spunto visivo</a:t>
            </a:r>
            <a:r>
              <a:rPr lang="it">
                <a:solidFill>
                  <a:schemeClr val="dk1"/>
                </a:solidFill>
              </a:rPr>
              <a:t>: Grafico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valorizzazione_ruoli_mancini.png</a:t>
            </a:r>
            <a:r>
              <a:rPr lang="it">
                <a:solidFill>
                  <a:schemeClr val="dk1"/>
                </a:solidFill>
              </a:rPr>
              <a:t> e scatter plot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coaching_growth_scatter.png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2c31d4d4d26996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42c31d4d4d26996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4. L'Analisi della Crescita Interna (L'Impatto Reale)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Approccio Oggettivo</a:t>
            </a:r>
            <a:r>
              <a:rPr lang="it">
                <a:solidFill>
                  <a:schemeClr val="dk1"/>
                </a:solidFill>
              </a:rPr>
              <a:t>: Sfruttare la varianza naturale dei dati storici multi-stagione per mostrare come la gestione tecnica influisca sui reparti senza forzature artificiali.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it">
                <a:solidFill>
                  <a:schemeClr val="dk1"/>
                </a:solidFill>
              </a:rPr>
              <a:t>Spunto visivo</a:t>
            </a:r>
            <a:r>
              <a:rPr lang="it">
                <a:solidFill>
                  <a:schemeClr val="dk1"/>
                </a:solidFill>
              </a:rPr>
              <a:t>: Grafico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valorizzazione_ruoli_mancini.png</a:t>
            </a:r>
            <a:r>
              <a:rPr lang="it">
                <a:solidFill>
                  <a:schemeClr val="dk1"/>
                </a:solidFill>
              </a:rPr>
              <a:t> e scatter plot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coaching_growth_scatter.png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42c31d4d4d26996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42c31d4d4d26996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4. L'Analisi della Crescita Interna (L'Impatto Reale)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Approccio Oggettivo</a:t>
            </a:r>
            <a:r>
              <a:rPr lang="it">
                <a:solidFill>
                  <a:schemeClr val="dk1"/>
                </a:solidFill>
              </a:rPr>
              <a:t>: Sfruttare la varianza naturale dei dati storici multi-stagione per mostrare come la gestione tecnica influisca sui reparti senza forzature artificiali.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it">
                <a:solidFill>
                  <a:schemeClr val="dk1"/>
                </a:solidFill>
              </a:rPr>
              <a:t>Spunto visivo</a:t>
            </a:r>
            <a:r>
              <a:rPr lang="it">
                <a:solidFill>
                  <a:schemeClr val="dk1"/>
                </a:solidFill>
              </a:rPr>
              <a:t>: Grafico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valorizzazione_ruoli_mancini.png</a:t>
            </a:r>
            <a:r>
              <a:rPr lang="it">
                <a:solidFill>
                  <a:schemeClr val="dk1"/>
                </a:solidFill>
              </a:rPr>
              <a:t> e scatter plot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coaching_growth_scatter.png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2c31d4d4d26996c_48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42c31d4d4d26996c_4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4. L'Analisi della Crescita Interna (L'Impatto Reale)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Approccio Oggettivo</a:t>
            </a:r>
            <a:r>
              <a:rPr lang="it">
                <a:solidFill>
                  <a:schemeClr val="dk1"/>
                </a:solidFill>
              </a:rPr>
              <a:t>: Sfruttare la varianza naturale dei dati storici multi-stagione per mostrare come la gestione tecnica influisca sui reparti senza forzature artificiali.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it">
                <a:solidFill>
                  <a:schemeClr val="dk1"/>
                </a:solidFill>
              </a:rPr>
              <a:t>Spunto visivo</a:t>
            </a:r>
            <a:r>
              <a:rPr lang="it">
                <a:solidFill>
                  <a:schemeClr val="dk1"/>
                </a:solidFill>
              </a:rPr>
              <a:t>: Grafico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valorizzazione_ruoli_mancini.png</a:t>
            </a:r>
            <a:r>
              <a:rPr lang="it">
                <a:solidFill>
                  <a:schemeClr val="dk1"/>
                </a:solidFill>
              </a:rPr>
              <a:t> e scatter plot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coaching_growth_scatter.png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2c31d4d4d26996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42c31d4d4d26996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4. L'Analisi della Crescita Interna (L'Impatto Reale)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>
                <a:solidFill>
                  <a:schemeClr val="dk1"/>
                </a:solidFill>
              </a:rPr>
              <a:t>Approccio Oggettivo</a:t>
            </a:r>
            <a:r>
              <a:rPr lang="it">
                <a:solidFill>
                  <a:schemeClr val="dk1"/>
                </a:solidFill>
              </a:rPr>
              <a:t>: Sfruttare la varianza naturale dei dati storici multi-stagione per mostrare come la gestione tecnica influisca sui reparti senza forzature artificiali.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it">
                <a:solidFill>
                  <a:schemeClr val="dk1"/>
                </a:solidFill>
              </a:rPr>
              <a:t>Spunto visivo</a:t>
            </a:r>
            <a:r>
              <a:rPr lang="it">
                <a:solidFill>
                  <a:schemeClr val="dk1"/>
                </a:solidFill>
              </a:rPr>
              <a:t>: Grafico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valorizzazione_ruoli_mancini.png</a:t>
            </a:r>
            <a:r>
              <a:rPr lang="it">
                <a:solidFill>
                  <a:schemeClr val="dk1"/>
                </a:solidFill>
              </a:rPr>
              <a:t> e scatter plot </a:t>
            </a:r>
            <a:r>
              <a:rPr lang="it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coaching_growth_scatter.png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" name="Google Shape;9;p1" title="loghi-figc-800x800px-1898-2018_2017.jp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164926"/>
            <a:ext cx="1007874" cy="100787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loghi-figc-800x800px-1898-2018_20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76" y="1951774"/>
            <a:ext cx="7870650" cy="78706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1896150" y="528525"/>
            <a:ext cx="53517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40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Sogno Mondiale 2030</a:t>
            </a:r>
            <a:br>
              <a:rPr b="1" lang="it" sz="3600">
                <a:solidFill>
                  <a:schemeClr val="dk2"/>
                </a:solidFill>
              </a:rPr>
            </a:br>
            <a:r>
              <a:rPr b="1" lang="it" sz="2200">
                <a:solidFill>
                  <a:schemeClr val="dk2"/>
                </a:solidFill>
              </a:rPr>
              <a:t>The Mancini Effect</a:t>
            </a:r>
            <a:endParaRPr b="1" sz="22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20812" y="3987775"/>
            <a:ext cx="626400" cy="11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62475" y="4164900"/>
            <a:ext cx="20409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Created by: </a:t>
            </a:r>
            <a:br>
              <a:rPr lang="it" sz="17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it" sz="17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Simonpietro Guido</a:t>
            </a:r>
            <a:endParaRPr sz="17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644450" y="800501"/>
            <a:ext cx="6041100" cy="34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2387400" y="960700"/>
            <a:ext cx="4555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The 3 Untouchables in Italy </a:t>
            </a:r>
            <a:endParaRPr sz="18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250" y="1739325"/>
            <a:ext cx="1816225" cy="19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300" y="1741925"/>
            <a:ext cx="2072275" cy="19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1125" y="1457736"/>
            <a:ext cx="4727762" cy="2502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1644450" y="800501"/>
            <a:ext cx="6041100" cy="34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2346896" y="1422830"/>
            <a:ext cx="4450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1"/>
                </a:solidFill>
              </a:rPr>
              <a:t>The Problem</a:t>
            </a:r>
            <a:r>
              <a:rPr lang="it" sz="1100">
                <a:solidFill>
                  <a:schemeClr val="dk1"/>
                </a:solidFill>
              </a:rPr>
              <a:t>: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After recent World Cup heartbreaks, football anxiety in Italy is at an all-time high. Italians need peace of mind.</a:t>
            </a:r>
            <a:r>
              <a:rPr lang="it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2175300" y="205075"/>
            <a:ext cx="49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Introduction </a:t>
            </a:r>
            <a:endParaRPr sz="18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439900" y="2834125"/>
            <a:ext cx="4450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1"/>
                </a:solidFill>
              </a:rPr>
              <a:t>The Solution</a:t>
            </a:r>
            <a:r>
              <a:rPr lang="it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"Sogno Mondiale: The Mancini Effect"</a:t>
            </a:r>
            <a:r>
              <a:rPr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 — or simply, the ultimate cure for Italian football stress. </a:t>
            </a:r>
            <a:endParaRPr sz="1800">
              <a:solidFill>
                <a:schemeClr val="dk2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1644450" y="800501"/>
            <a:ext cx="6041100" cy="34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2034130" y="2144752"/>
            <a:ext cx="5232000" cy="21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1"/>
                </a:solidFill>
              </a:rPr>
              <a:t>The Two Core Questions</a:t>
            </a:r>
            <a:r>
              <a:rPr lang="it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Medium"/>
              <a:buAutoNum type="arabicPeriod"/>
            </a:pPr>
            <a:r>
              <a:rPr i="1"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How much</a:t>
            </a:r>
            <a:r>
              <a:rPr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 does a top-tier manager like Roberto Mancini actually boost player performance?</a:t>
            </a:r>
            <a:endParaRPr sz="11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Will the Italian National Team have a strong enough squad to let us sleep peacefully at the 2030 World Cup?</a:t>
            </a:r>
            <a:endParaRPr sz="11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2175300" y="205075"/>
            <a:ext cx="49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Project Overview &amp; The Mission </a:t>
            </a:r>
            <a:endParaRPr sz="18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2034125" y="1182275"/>
            <a:ext cx="507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1"/>
                </a:solidFill>
              </a:rPr>
              <a:t>Why this project?</a:t>
            </a:r>
            <a:r>
              <a:rPr lang="it" sz="1100">
                <a:solidFill>
                  <a:schemeClr val="dk1"/>
                </a:solidFill>
              </a:rPr>
              <a:t>: </a:t>
            </a:r>
            <a:r>
              <a:rPr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Moving away from bar-room opinions and gut feelings to rely purely on objective data</a:t>
            </a:r>
            <a:r>
              <a:rPr lang="it" sz="11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644450" y="800501"/>
            <a:ext cx="6041100" cy="34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2707050" y="1304350"/>
            <a:ext cx="39159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300">
                <a:solidFill>
                  <a:schemeClr val="dk1"/>
                </a:solidFill>
              </a:rPr>
              <a:t>The Challenge</a:t>
            </a:r>
            <a:r>
              <a:rPr lang="it" sz="1100">
                <a:solidFill>
                  <a:schemeClr val="dk1"/>
                </a:solidFill>
              </a:rPr>
              <a:t>:</a:t>
            </a:r>
            <a:r>
              <a:rPr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 Handling complex multi-season datasets, multi-index headers, and missing values.</a:t>
            </a:r>
            <a:endParaRPr sz="11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300">
                <a:solidFill>
                  <a:schemeClr val="dk1"/>
                </a:solidFill>
              </a:rPr>
              <a:t>The Rigorous Touch</a:t>
            </a:r>
            <a:r>
              <a:rPr lang="it" sz="1100">
                <a:solidFill>
                  <a:schemeClr val="dk1"/>
                </a:solidFill>
              </a:rPr>
              <a:t>: </a:t>
            </a:r>
            <a:r>
              <a:rPr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Implementing a reliability threshold (a minimum of 800 total minutes) to filter out short-term anomalies, short loans, or severe injuries while preserving real-world field variance.</a:t>
            </a:r>
            <a:endParaRPr sz="11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2175300" y="205075"/>
            <a:ext cx="49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Behind the Scenes </a:t>
            </a:r>
            <a:endParaRPr sz="18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1644450" y="800501"/>
            <a:ext cx="6041100" cy="34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2175300" y="205075"/>
            <a:ext cx="49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The "Plot Twist" </a:t>
            </a:r>
            <a:endParaRPr sz="18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2460600" y="1104100"/>
            <a:ext cx="44088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The initial EDA showed that player growth under a manager isn't a magical, automatic constant—it features natural variance. </a:t>
            </a:r>
            <a:endParaRPr sz="1300">
              <a:solidFill>
                <a:schemeClr val="dk2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22" name="Google Shape;122;p18" title="coaching_growth_sca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9050" y="1821700"/>
            <a:ext cx="3385902" cy="22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1644450" y="800501"/>
            <a:ext cx="6041100" cy="34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2175300" y="205075"/>
            <a:ext cx="49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The Verdict on Manager Mancini </a:t>
            </a:r>
            <a:endParaRPr sz="18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2460600" y="1104100"/>
            <a:ext cx="44088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Evaluating department-level performance and ranking the players who benefited most from his tactical system. </a:t>
            </a:r>
            <a:endParaRPr sz="1300">
              <a:solidFill>
                <a:schemeClr val="dk2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34" name="Google Shape;134;p19" title="valorizzazione_ruoli_mancin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5014" y="1900950"/>
            <a:ext cx="3393976" cy="203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 title="top10_delta_giocator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5025" y="1900950"/>
            <a:ext cx="3393976" cy="2036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1644450" y="800501"/>
            <a:ext cx="6041100" cy="34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2175300" y="205075"/>
            <a:ext cx="49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The 2030 Projection </a:t>
            </a:r>
            <a:endParaRPr sz="18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2460600" y="1104100"/>
            <a:ext cx="44088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100">
                <a:solidFill>
                  <a:schemeClr val="dk1"/>
                </a:solidFill>
              </a:rPr>
              <a:t>The Future</a:t>
            </a:r>
            <a:r>
              <a:rPr lang="it" sz="1100">
                <a:solidFill>
                  <a:schemeClr val="dk1"/>
                </a:solidFill>
              </a:rPr>
              <a:t>: </a:t>
            </a:r>
            <a:r>
              <a:rPr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Testing the new generation of the National Team across departments.</a:t>
            </a:r>
            <a:endParaRPr sz="11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100">
                <a:solidFill>
                  <a:schemeClr val="dk1"/>
                </a:solidFill>
              </a:rPr>
              <a:t>The Starting XI</a:t>
            </a:r>
            <a:r>
              <a:rPr lang="it" sz="1100">
                <a:solidFill>
                  <a:schemeClr val="dk1"/>
                </a:solidFill>
              </a:rPr>
              <a:t>: </a:t>
            </a:r>
            <a:r>
              <a:rPr lang="it" sz="11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Applying strict tactical constraints for a 4-3-3 formation and calculating squad ratings.</a:t>
            </a:r>
            <a:endParaRPr sz="11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47" name="Google Shape;147;p20" title="department_scores_2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437" y="1994800"/>
            <a:ext cx="3639127" cy="202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1644450" y="800501"/>
            <a:ext cx="6041100" cy="34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2175300" y="205075"/>
            <a:ext cx="49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2030 World Cup Qualification Verdict </a:t>
            </a:r>
            <a:endParaRPr sz="18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4054350" y="1713150"/>
            <a:ext cx="10353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600">
                <a:solidFill>
                  <a:schemeClr val="accent1"/>
                </a:solidFill>
              </a:rPr>
              <a:t>3</a:t>
            </a:r>
            <a:endParaRPr b="1" sz="9600">
              <a:solidFill>
                <a:schemeClr val="accent1"/>
              </a:solidFill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4054350" y="1660300"/>
            <a:ext cx="10353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600">
                <a:solidFill>
                  <a:schemeClr val="accent1"/>
                </a:solidFill>
              </a:rPr>
              <a:t>1</a:t>
            </a:r>
            <a:endParaRPr b="1" sz="9600">
              <a:solidFill>
                <a:schemeClr val="accent1"/>
              </a:solidFill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4054350" y="1660300"/>
            <a:ext cx="10353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600">
                <a:solidFill>
                  <a:schemeClr val="accent1"/>
                </a:solidFill>
              </a:rPr>
              <a:t>2</a:t>
            </a:r>
            <a:endParaRPr b="1" sz="9600">
              <a:solidFill>
                <a:schemeClr val="accent1"/>
              </a:solidFill>
            </a:endParaRPr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3275" y="840612"/>
            <a:ext cx="4514250" cy="337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-519050" y="-11403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8292375" y="28341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7178550" y="4016950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-1422425" y="299925"/>
            <a:ext cx="2430300" cy="2359500"/>
          </a:xfrm>
          <a:prstGeom prst="ellipse">
            <a:avLst/>
          </a:prstGeom>
          <a:gradFill>
            <a:gsLst>
              <a:gs pos="0">
                <a:srgbClr val="1155CC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1644450" y="800501"/>
            <a:ext cx="6041100" cy="343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2175300" y="205075"/>
            <a:ext cx="49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2030 World Cup Qualification Verdict </a:t>
            </a:r>
            <a:endParaRPr sz="18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2526450" y="1072675"/>
            <a:ext cx="4277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</a:rPr>
              <a:t>Comparing the starting XI average against the UEFA competitiveness threshold (</a:t>
            </a:r>
            <a:r>
              <a:rPr b="1" lang="it" sz="1100">
                <a:solidFill>
                  <a:schemeClr val="dk1"/>
                </a:solidFill>
              </a:rPr>
              <a:t>7.10</a:t>
            </a:r>
            <a:r>
              <a:rPr lang="it" sz="1100">
                <a:solidFill>
                  <a:schemeClr val="dk1"/>
                </a:solidFill>
              </a:rPr>
              <a:t>)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3" name="Google Shape;173;p22" title="proiezione_italia_2030_benchm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1938" y="1621075"/>
            <a:ext cx="3246126" cy="2434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/>
        </p:nvSpPr>
        <p:spPr>
          <a:xfrm>
            <a:off x="0" y="0"/>
            <a:ext cx="1909500" cy="1409100"/>
          </a:xfrm>
          <a:prstGeom prst="diagStrip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0" y="0"/>
            <a:ext cx="3551700" cy="27123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0" y="0"/>
            <a:ext cx="5002200" cy="4038000"/>
          </a:xfrm>
          <a:prstGeom prst="diagStripe">
            <a:avLst>
              <a:gd fmla="val 5000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0" y="4038000"/>
            <a:ext cx="1221000" cy="131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1149150" y="910250"/>
            <a:ext cx="68457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9600">
                <a:solidFill>
                  <a:schemeClr val="lt1"/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Grazie e…</a:t>
            </a:r>
            <a:r>
              <a:rPr lang="it" sz="9600">
                <a:solidFill>
                  <a:schemeClr val="dk2"/>
                </a:solidFill>
                <a:highlight>
                  <a:schemeClr val="lt1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 </a:t>
            </a:r>
            <a:endParaRPr b="1" sz="9600">
              <a:solidFill>
                <a:srgbClr val="CC0000"/>
              </a:solidFill>
              <a:highlight>
                <a:schemeClr val="lt1"/>
              </a:highlight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569100" y="2344725"/>
            <a:ext cx="8074200" cy="24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9600">
                <a:solidFill>
                  <a:srgbClr val="188038"/>
                </a:solidFill>
              </a:rPr>
              <a:t>For</a:t>
            </a:r>
            <a:r>
              <a:rPr b="1" lang="it" sz="9600">
                <a:solidFill>
                  <a:srgbClr val="FFFFFF"/>
                </a:solidFill>
              </a:rPr>
              <a:t>za It</a:t>
            </a:r>
            <a:r>
              <a:rPr b="1" lang="it" sz="9600">
                <a:solidFill>
                  <a:srgbClr val="CC0000"/>
                </a:solidFill>
              </a:rPr>
              <a:t>alia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69875" y="4038000"/>
            <a:ext cx="20409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Created</a:t>
            </a:r>
            <a:r>
              <a:rPr lang="it" sz="17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 by: </a:t>
            </a:r>
            <a:br>
              <a:rPr lang="it" sz="17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it" sz="17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Simonpietro Guido</a:t>
            </a:r>
            <a:endParaRPr sz="17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